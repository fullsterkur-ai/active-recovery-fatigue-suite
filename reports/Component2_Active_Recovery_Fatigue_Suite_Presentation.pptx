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20116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COMPONENT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E264D"/>
                </a:solidFill>
                <a:latin typeface="Segoe UI"/>
              </a:defRPr>
            </a:pPr>
            <a:r>
              <a:t>IT23156838 | Rathnayake 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Title of the individual component:</a:t>
            </a:r>
          </a:p>
          <a:p>
            <a:pPr>
              <a:spcAft>
                <a:spcPts val="20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Active Recovery, Joint Health &amp;</a:t>
            </a:r>
            <a:br/>
            <a:r>
              <a:t>Fatigue Management Suite</a:t>
            </a:r>
          </a:p>
          <a:p>
            <a:pPr>
              <a:defRPr sz="1400" b="1">
                <a:solidFill>
                  <a:srgbClr val="0E264D"/>
                </a:solidFill>
                <a:latin typeface="Segoe UI"/>
              </a:defRPr>
            </a:pPr>
            <a:r>
              <a:t>Specialization: Software Engineering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371600"/>
            <a:ext cx="3291840" cy="329184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0" y="1645920"/>
            <a:ext cx="27432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>
                <a:solidFill>
                  <a:srgbClr val="0E264D"/>
                </a:solidFill>
                <a:latin typeface="Segoe UI"/>
              </a:defRPr>
            </a:pPr>
            <a:r>
              <a:t>Presenter: Rathnayake S</a:t>
            </a:r>
            <a:br/>
            <a:r>
              <a:t>ID: IT23156838</a:t>
            </a:r>
            <a:br/>
            <a:br/>
            <a:r>
              <a:t>Subsystem 1:</a:t>
            </a:r>
            <a:br/>
            <a:r>
              <a:t>Contactless rPPG Pulse Scanner</a:t>
            </a:r>
            <a:br/>
            <a:r>
              <a:t>&amp;</a:t>
            </a:r>
            <a:br/>
            <a:r>
              <a:t>Bimodal Kinematic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SLIIT FACULTY OF COMPUTING  |  IT23156838  |  Rathnayake S  |  J26-SE-342  |  Slide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64D"/>
          </a:solidFill>
          <a:ln>
            <a:solidFill>
              <a:srgbClr val="0E2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Active Recovery, Joint Health &amp; Fatigue Management Suite</a:t>
            </a:r>
          </a:p>
          <a:p>
            <a:pPr>
              <a:defRPr sz="1100">
                <a:solidFill>
                  <a:srgbClr val="93C5FD"/>
                </a:solidFill>
                <a:latin typeface="Segoe UI"/>
              </a:defRPr>
            </a:pPr>
            <a:r>
              <a:t>Component 2 | Contactless rPPG Fatigue Extraction &amp; Bimodal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SLIIT FACULTY OF COMPUTING  |  IT23156838 - Rathnayake S  |  J26-SE-342  | 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The Problem: Central Nervous System (CNS) Fatigue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Systemic Neural Exhaustion: </a:t>
            </a:r>
            <a:r>
              <a:rPr b="0" sz="1100">
                <a:solidFill>
                  <a:srgbClr val="1E293B"/>
                </a:solidFill>
              </a:rPr>
              <a:t>High-intensity compound lifting (squats, deadlifts) severely taxes the brain and CNS, reducing high-threshold motor unit recruitment capacity.</a:t>
            </a:r>
          </a:p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Catastrophic Injury Risk: </a:t>
            </a:r>
            <a:r>
              <a:rPr b="0" sz="1100">
                <a:solidFill>
                  <a:srgbClr val="1E293B"/>
                </a:solidFill>
              </a:rPr>
              <a:t>Attempting maximal loading while the autonomic nervous system is depleted leads to spinal buckling, tendon failure, and acute soft-tissue tears.</a:t>
            </a:r>
          </a:p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Subjective Perception Fails: </a:t>
            </a:r>
            <a:r>
              <a:rPr b="0" sz="1100">
                <a:solidFill>
                  <a:srgbClr val="1E293B"/>
                </a:solidFill>
              </a:rPr>
              <a:t>Athletes cannot accurately self-judge CNS fatigue; physical muscles may feel ready while the neural drive is severely suppressed.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Research Gap &amp; Project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Clinical Wearables are Expensive: </a:t>
            </a:r>
            <a:r>
              <a:rPr b="0" sz="1100">
                <a:solidFill>
                  <a:srgbClr val="1E293B"/>
                </a:solidFill>
              </a:rPr>
              <a:t>Gold-standard Heart Rate Variability (HRV) requires $100-$300 chest straps or multi-lead ECGs, creating high friction for everyday lifters.</a:t>
            </a:r>
          </a:p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Commercial Apps Are Inadequate: </a:t>
            </a:r>
            <a:r>
              <a:rPr b="0" sz="1100">
                <a:solidFill>
                  <a:srgbClr val="1E293B"/>
                </a:solidFill>
              </a:rPr>
              <a:t>Basic mobile apps compute average Heart Rate (BPM), completely failing to measure autonomic balance or vagal parasympathetic recovery.</a:t>
            </a:r>
          </a:p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Proposed Software Solution: </a:t>
            </a:r>
            <a:r>
              <a:rPr b="0" sz="1100">
                <a:solidFill>
                  <a:srgbClr val="1E293B"/>
                </a:solidFill>
              </a:rPr>
              <a:t>Transform standard smartphone cameras into a contactless photoplethysmography (rPPG) optical sensor that extracts beat-to-beat HRV metrics in 45 seconds.</a:t>
            </a:r>
          </a:p>
          <a:p>
            <a:pPr>
              <a:spcAft>
                <a:spcPts val="1200"/>
              </a:spcAft>
              <a:defRPr sz="1150" b="1">
                <a:solidFill>
                  <a:srgbClr val="1E293B"/>
                </a:solidFill>
                <a:latin typeface="Segoe UI"/>
              </a:defRPr>
            </a:pPr>
            <a:r>
              <a:t>• Autonomous Readiness Triage: </a:t>
            </a:r>
            <a:r>
              <a:rPr b="0" sz="1100">
                <a:solidFill>
                  <a:srgbClr val="1E293B"/>
                </a:solidFill>
              </a:rPr>
              <a:t>Predict CNS recovery state (GREEN, YELLOW, RED) and prescribe auto-regulated workout volume adjustments.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64D"/>
          </a:solidFill>
          <a:ln>
            <a:solidFill>
              <a:srgbClr val="0E2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Active Recovery, Joint Health &amp; Fatigue Management Suite</a:t>
            </a:r>
          </a:p>
          <a:p>
            <a:pPr>
              <a:defRPr sz="1100">
                <a:solidFill>
                  <a:srgbClr val="93C5FD"/>
                </a:solidFill>
                <a:latin typeface="Segoe UI"/>
              </a:defRPr>
            </a:pPr>
            <a:r>
              <a:t>Component 2 | Contactless rPPG Fatigue Extraction &amp; Bimodal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SLIIT FACULTY OF COMPUTING  |  IT23156838 - Rathnayake S  |  J26-SE-342  | 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End-to-End Digital Signal Processing (DSP)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264D"/>
                </a:solidFill>
                <a:latin typeface="Segoe UI"/>
              </a:defRPr>
            </a:pPr>
            <a:r>
              <a:t>• 1. Hardware Locking: </a:t>
            </a:r>
            <a:r>
              <a:rPr b="0" sz="1050">
                <a:solidFill>
                  <a:srgbClr val="1E293B"/>
                </a:solidFill>
              </a:rPr>
              <a:t>Locks Auto-Exposure (AE), Auto-Focus (AF), and Auto-White-Balance (AWB) on rear mobile camera to eliminate artificial sensor noise.</a:t>
            </a:r>
          </a:p>
          <a:p>
            <a:pPr>
              <a:spcAft>
                <a:spcPts val="1000"/>
              </a:spcAft>
              <a:defRPr sz="1100" b="1">
                <a:solidFill>
                  <a:srgbClr val="0E264D"/>
                </a:solidFill>
                <a:latin typeface="Segoe UI"/>
              </a:defRPr>
            </a:pPr>
            <a:r>
              <a:t>• 2. Green Channel Intensity: </a:t>
            </a:r>
            <a:r>
              <a:rPr b="0" sz="1050">
                <a:solidFill>
                  <a:srgbClr val="1E293B"/>
                </a:solidFill>
              </a:rPr>
              <a:t>Extracts mean green luminance (520-570 nm) across ROI — green light matches peak oxygenated hemoglobin absorption, maximizing AC/DC pulsatile SNR.</a:t>
            </a:r>
          </a:p>
          <a:p>
            <a:pPr>
              <a:spcAft>
                <a:spcPts val="1000"/>
              </a:spcAft>
              <a:defRPr sz="1100" b="1">
                <a:solidFill>
                  <a:srgbClr val="0E264D"/>
                </a:solidFill>
                <a:latin typeface="Segoe UI"/>
              </a:defRPr>
            </a:pPr>
            <a:r>
              <a:t>• 3. 3rd-Order Butterworth Filter: </a:t>
            </a:r>
            <a:r>
              <a:rPr b="0" sz="1050">
                <a:solidFill>
                  <a:srgbClr val="1E293B"/>
                </a:solidFill>
              </a:rPr>
              <a:t>Zero-phase bandpass filter (0.75 - 3.0 Hz / 45 - 180 BPM) eliminates respiratory baseline wander (&lt;0.75 Hz) and high-frequency thermal noise.</a:t>
            </a:r>
          </a:p>
          <a:p>
            <a:pPr>
              <a:spcAft>
                <a:spcPts val="1000"/>
              </a:spcAft>
              <a:defRPr sz="1100" b="1">
                <a:solidFill>
                  <a:srgbClr val="0E264D"/>
                </a:solidFill>
                <a:latin typeface="Segoe UI"/>
              </a:defRPr>
            </a:pPr>
            <a:r>
              <a:t>• 4. Peak Detection &amp; Outlier Rejection: </a:t>
            </a:r>
            <a:r>
              <a:rPr b="0" sz="1050">
                <a:solidFill>
                  <a:srgbClr val="1E293B"/>
                </a:solidFill>
              </a:rPr>
              <a:t>Adaptive thresholding extracts systolic peaks and RR interval series; physiologically impossible intervals (RR &lt; 330ms or &gt; 1500ms) are strictly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18-Feature Cardiorespiratory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Time-Domain HRV: </a:t>
            </a:r>
            <a:r>
              <a:rPr b="0" sz="1050">
                <a:solidFill>
                  <a:srgbClr val="1E293B"/>
                </a:solidFill>
              </a:rPr>
              <a:t>rMSSD (Primary vagal tone marker), SDNN (Total autonomic variance), HR Mean &amp; Std, pNN50, pNN20, CV_RR.</a:t>
            </a:r>
          </a:p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Non-Linear Poincaré Geometry: </a:t>
            </a:r>
            <a:r>
              <a:rPr b="0" sz="1050">
                <a:solidFill>
                  <a:srgbClr val="1E293B"/>
                </a:solidFill>
              </a:rPr>
              <a:t>SD1 (Short-term parasympathetic variance), SD2 (Long-term variance), SD1/SD2 Ratio.</a:t>
            </a:r>
          </a:p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Autonomic Strain (Baevsky SI): </a:t>
            </a:r>
            <a:r>
              <a:rPr b="0" sz="1050">
                <a:solidFill>
                  <a:srgbClr val="1E293B"/>
                </a:solidFill>
              </a:rPr>
              <a:t>Stress Index (SI = AMo / [2 × Mo × MxDMn]) — spikes to 300-1000+ under acute sympathetic exhaustion.</a:t>
            </a:r>
          </a:p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Frequency-Domain (Welch PSD): </a:t>
            </a:r>
            <a:r>
              <a:rPr b="0" sz="1050">
                <a:solidFill>
                  <a:srgbClr val="1E293B"/>
                </a:solidFill>
              </a:rPr>
              <a:t>Low Frequency (LF: 0.04-0.15 Hz), High Frequency (HF: 0.15-0.40 Hz), LF/HF Ratio (Sympathovagal balance).</a:t>
            </a:r>
          </a:p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• Optical Morphometrics: </a:t>
            </a:r>
            <a:r>
              <a:rPr b="0" sz="1050">
                <a:solidFill>
                  <a:srgbClr val="1E293B"/>
                </a:solidFill>
              </a:rPr>
              <a:t>Perfusion Index (Pulsatile blood absorption), Pulse Rise Time (Systolic arterial wave upstroke).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64D"/>
          </a:solidFill>
          <a:ln>
            <a:solidFill>
              <a:srgbClr val="0E2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Active Recovery, Joint Health &amp; Fatigue Management Suite</a:t>
            </a:r>
          </a:p>
          <a:p>
            <a:pPr>
              <a:defRPr sz="1100">
                <a:solidFill>
                  <a:srgbClr val="93C5FD"/>
                </a:solidFill>
                <a:latin typeface="Segoe UI"/>
              </a:defRPr>
            </a:pPr>
            <a:r>
              <a:t>Component 2 | Contactless rPPG Fatigue Extraction &amp; Bimodal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SLIIT FACULTY OF COMPUTING  |  IT23156838 - Rathnayake S  |  J26-SE-342  | 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Empirical Validation on WESAD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WESAD Benchmark Ingestion: </a:t>
            </a:r>
            <a:r>
              <a:rPr b="0" sz="1000">
                <a:solidFill>
                  <a:srgbClr val="1E293B"/>
                </a:solidFill>
              </a:rPr>
              <a:t>Trained on 15 human subjects (S2-S17), 2,912 sliding 45-second windows across Baseline, Amusement, and TSST Stress.</a:t>
            </a:r>
          </a:p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Zero-Leakage GroupKFold CV: </a:t>
            </a:r>
            <a:r>
              <a:rPr b="0" sz="1000">
                <a:solidFill>
                  <a:srgbClr val="1E293B"/>
                </a:solidFill>
              </a:rPr>
              <a:t>5-Fold cross-validation grouped by subject to guarantee the model generalizes to completely unseen individuals.</a:t>
            </a:r>
          </a:p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Validation Accuracy: </a:t>
            </a:r>
            <a:r>
              <a:rPr b="0" sz="1000">
                <a:solidFill>
                  <a:srgbClr val="1E293B"/>
                </a:solidFill>
              </a:rPr>
              <a:t>82.85% overall accuracy (Peak: 83.36% @ Epoch 56).</a:t>
            </a:r>
          </a:p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Multi-Class ROC-AUC: </a:t>
            </a:r>
            <a:r>
              <a:rPr b="0" sz="1000">
                <a:solidFill>
                  <a:srgbClr val="1E293B"/>
                </a:solidFill>
              </a:rPr>
              <a:t>Macro AUC of 0.8922 (Red Exhaustion Tier AUC: 0.978).</a:t>
            </a:r>
          </a:p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Safety in Exhaustion: </a:t>
            </a:r>
            <a:r>
              <a:rPr b="0" sz="1000">
                <a:solidFill>
                  <a:srgbClr val="1E293B"/>
                </a:solidFill>
              </a:rPr>
              <a:t>86.2% true positive detection of acute fatigue (0% misclassified as mild Yellow).</a:t>
            </a:r>
          </a:p>
          <a:p>
            <a:pPr>
              <a:spcAft>
                <a:spcPts val="600"/>
              </a:spcAft>
              <a:defRPr sz="1050" b="1">
                <a:solidFill>
                  <a:srgbClr val="0E264D"/>
                </a:solidFill>
                <a:latin typeface="Segoe UI"/>
              </a:defRPr>
            </a:pPr>
            <a:r>
              <a:t>• Production ONNX Export: </a:t>
            </a:r>
            <a:r>
              <a:rPr b="0" sz="1000">
                <a:solidFill>
                  <a:srgbClr val="1E293B"/>
                </a:solidFill>
              </a:rPr>
              <a:t>Converted to .onnx format (2.5MB) with 100% numerical parity for offline sub-10ms Flutter execution.</a:t>
            </a:r>
          </a:p>
        </p:txBody>
      </p:sp>
      <p:pic>
        <p:nvPicPr>
          <p:cNvPr id="9" name="Picture 8" descr="evalu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669280" cy="1996608"/>
          </a:xfrm>
          <a:prstGeom prst="rect">
            <a:avLst/>
          </a:prstGeom>
        </p:spPr>
      </p:pic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57600"/>
            <a:ext cx="3474720" cy="3201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64D"/>
          </a:solidFill>
          <a:ln>
            <a:solidFill>
              <a:srgbClr val="0E2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Active Recovery, Joint Health &amp; Fatigue Management Suite</a:t>
            </a:r>
          </a:p>
          <a:p>
            <a:pPr>
              <a:defRPr sz="1100">
                <a:solidFill>
                  <a:srgbClr val="93C5FD"/>
                </a:solidFill>
                <a:latin typeface="Segoe UI"/>
              </a:defRPr>
            </a:pPr>
            <a:r>
              <a:t>Component 2 | Contactless rPPG Fatigue Extraction &amp; Bimodal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SLIIT FACULTY OF COMPUTING  |  IT23156838 - Rathnayake S  |  J26-SE-342  | 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Bimodal Decision Fusion: Connecting Subsystem 1 &amp; Subsystem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A drop in rMSSD alone cannot distinguish Mental Stress from Physical Neuromuscular Damage. Subsystem 1 fuses with Subsystem 2 (5-Rep Squat Kinematics via MediaPipe) to evaluate the Bilateral Asymmetry Index (ASI):  ASI = (|L_load - R_load| / max(L_load, R_load)) ×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383280" cy="32004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Case 1: Fully Recovered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ANS Tier: GREEN (rMSSD ≥ 45ms)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Kinematic ASI: ≤ 10% (Symmetrical)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Root Driver: Homeostatic Balance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Prescription: 100% Volume cleared. Green-lit for maximal compound lifts (Squats, Deadlifts, 1-5 RM, Plyometrics).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17520"/>
            <a:ext cx="3383280" cy="320040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Case 2: Cognitive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ANS Tier: YELLOW / RED (rMSSD &lt; 45ms)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Kinematic ASI: ≤ 10% (Symmetrical)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Root Driver: Mental Load / Sleep Deficit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Prescription: DO NOT CANCEL. Motor firing is balanced. Train at RPE 7-8; reduce working sets by 20%; avoid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017520"/>
            <a:ext cx="3383280" cy="3200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64D"/>
                </a:solidFill>
                <a:latin typeface="Segoe UI"/>
              </a:defRPr>
            </a:pPr>
            <a:r>
              <a:t>Case 3: Neuromuscular Fatigue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474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ANS Tier: YELLOW / RED (rMSSD &lt; 45ms)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Kinematic ASI: &gt; 15% (Asymmetrical)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Root Driver: Structural Muscle Microtrauma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Prescription: HIGH INJURY RISK! Postpone axial spinal loading. Prescribe 20 mins low-intensity Zone-2 cardio &amp; mobility.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